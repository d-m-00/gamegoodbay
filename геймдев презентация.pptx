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_rels/theme1.xml.rels" ContentType="application/vnd.openxmlformats-package.relationshi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.jpeg" ContentType="image/jpeg"/>
  <Override PartName="/ppt/media/image10.png" ContentType="image/png"/>
  <Override PartName="/ppt/media/image4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6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34.png" ContentType="image/png"/>
  <Override PartName="/ppt/media/image11.png" ContentType="image/png"/>
  <Override PartName="/ppt/media/image48.png" ContentType="image/png"/>
  <Override PartName="/ppt/media/image17.png" ContentType="image/png"/>
  <Override PartName="/ppt/media/image8.png" ContentType="image/png"/>
  <Override PartName="/ppt/media/image46.png" ContentType="image/png"/>
  <Override PartName="/ppt/media/image45.png" ContentType="image/png"/>
  <Override PartName="/ppt/media/image49.jpeg" ContentType="image/jpeg"/>
  <Override PartName="/ppt/media/image50.png" ContentType="image/png"/>
  <Override PartName="/ppt/media/image13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42.png" ContentType="image/png"/>
  <Override PartName="/ppt/media/image54.png" ContentType="image/png"/>
  <Override PartName="/ppt/media/image43.png" ContentType="image/png"/>
  <Override PartName="/ppt/media/image55.png" ContentType="image/png"/>
  <Override PartName="/ppt/media/image9.png" ContentType="image/png"/>
  <Override PartName="/ppt/media/image18.png" ContentType="image/png"/>
  <Override PartName="/ppt/media/image44.png" ContentType="image/png"/>
  <Override PartName="/ppt/media/image56.png" ContentType="image/png"/>
  <Override PartName="/ppt/media/image41.png" ContentType="image/png"/>
  <Override PartName="/ppt/media/image40.png" ContentType="image/png"/>
  <Override PartName="/ppt/media/image33.png" ContentType="image/png"/>
  <Override PartName="/ppt/media/image32.png" ContentType="image/png"/>
  <Override PartName="/ppt/media/image31.png" ContentType="image/png"/>
  <Override PartName="/ppt/media/image30.png" ContentType="image/png"/>
  <Override PartName="/ppt/media/image4.png" ContentType="image/png"/>
  <Override PartName="/ppt/media/image36.png" ContentType="image/png"/>
  <Override PartName="/ppt/media/image20.png" ContentType="image/png"/>
  <Override PartName="/ppt/media/image57.png" ContentType="image/png"/>
  <Override PartName="/ppt/media/image12.png" ContentType="image/png"/>
  <Override PartName="/ppt/media/image3.png" ContentType="image/png"/>
  <Override PartName="/ppt/media/image35.png" ContentType="image/png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7960" cy="47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36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2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281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DF2EE928-11DF-47EA-9A25-F9D16AA0A079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22160" y="5486400"/>
            <a:ext cx="7657560" cy="116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600" spc="-99" strike="noStrike" u="none" cap="all">
                <a:solidFill>
                  <a:schemeClr val="dk2"/>
                </a:solidFill>
                <a:effectLst/>
                <a:uFillTx/>
                <a:latin typeface="Arial"/>
              </a:rPr>
              <a:t>Образец </a:t>
            </a:r>
            <a:r>
              <a:rPr b="0" lang="ru-RU" sz="3600" spc="-99" strike="noStrike" u="none" cap="all">
                <a:solidFill>
                  <a:schemeClr val="dk2"/>
                </a:solidFill>
                <a:effectLst/>
                <a:uFillTx/>
                <a:latin typeface="Arial"/>
              </a:rPr>
              <a:t>заголовка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22160" y="3852720"/>
            <a:ext cx="6133680" cy="163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ru-RU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67CD25E5-F153-4662-B0A2-A47E844A8EB5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заголовка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536120"/>
            <a:ext cx="3655440" cy="458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561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79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40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6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360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419720" y="1536120"/>
            <a:ext cx="3655440" cy="458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561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79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40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6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360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7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8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9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F0162905-42CB-424F-8444-8296A27205A2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заголовка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365544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20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3655440" cy="394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79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36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2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320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419720" y="1535040"/>
            <a:ext cx="3655440" cy="63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lang="ru-RU" sz="20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419720" y="2174760"/>
            <a:ext cx="3655440" cy="394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79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36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2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320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dt" idx="10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ftr" idx="11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8"/>
          <p:cNvSpPr>
            <a:spLocks noGrp="1"/>
          </p:cNvSpPr>
          <p:nvPr>
            <p:ph type="sldNum" idx="12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82CBB8F9-8DBD-490F-A192-D212E7DD0EC4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заголовка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3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ftr" idx="14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sldNum" idx="15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931696D2-FF3A-47D8-AA86-1FCA3CBE29DE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dt" idx="16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17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Num" idx="18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BF275FFA-79CF-4EEA-97B6-F9D7127DE826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744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format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04920" y="5495400"/>
            <a:ext cx="7770240" cy="59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04920" y="6095880"/>
            <a:ext cx="7770240" cy="60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9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0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1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BB5ED3BE-6C5A-415B-A4FE-7BF9217E010E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body"/>
          </p:nvPr>
        </p:nvSpPr>
        <p:spPr>
          <a:xfrm>
            <a:off x="304920" y="380880"/>
            <a:ext cx="7770240" cy="494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36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2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281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01680" y="5495400"/>
            <a:ext cx="7770240" cy="59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22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заголовка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8456040" cy="5484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Вставка рисунка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301680" y="6095880"/>
            <a:ext cx="7770240" cy="61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2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23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8DC5DC22-2F2D-4310-8666-FC6572B92B4F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ftr" idx="24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1905120"/>
            <a:ext cx="7541640" cy="259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</a:t>
            </a:r>
            <a:r>
              <a:rPr b="0" lang="ru-RU" sz="6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ец </a:t>
            </a:r>
            <a:r>
              <a:rPr b="0" lang="ru-RU" sz="6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заголо</a:t>
            </a:r>
            <a:r>
              <a:rPr b="0" lang="ru-RU" sz="6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вка</a:t>
            </a:r>
            <a:endParaRPr b="0" lang="ru-RU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25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6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7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97F371A-2FE8-4D96-BC9A-4663388619EB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4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Образец 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заголовк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а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7617960" cy="47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36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2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281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28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29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30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DEE9A682-4201-4170-9A9D-D7DB6B425596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175032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б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р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а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е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ц 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з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а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г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л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о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в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к</a:t>
            </a: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а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7760" cy="58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Clr>
                <a:srgbClr val="4f81bd"/>
              </a:buClr>
              <a:buFont typeface="Arial"/>
              <a:buChar char="•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Образец текста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40080" indent="-228600" defTabSz="914400">
              <a:lnSpc>
                <a:spcPct val="100000"/>
              </a:lnSpc>
              <a:spcBef>
                <a:spcPts val="400"/>
              </a:spcBef>
              <a:buClr>
                <a:srgbClr val="c0504d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Второй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005840" indent="-228600" defTabSz="914400">
              <a:lnSpc>
                <a:spcPct val="100000"/>
              </a:lnSpc>
              <a:spcBef>
                <a:spcPts val="360"/>
              </a:spcBef>
              <a:buClr>
                <a:srgbClr val="9bbb59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Третий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280160" indent="-228600" defTabSz="914400">
              <a:lnSpc>
                <a:spcPct val="100000"/>
              </a:lnSpc>
              <a:spcBef>
                <a:spcPts val="320"/>
              </a:spcBef>
              <a:buClr>
                <a:srgbClr val="8064a2"/>
              </a:buClr>
              <a:buFont typeface="Arial"/>
              <a:buChar char="•"/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Четвертый уровень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554480" indent="-228600" defTabSz="914400">
              <a:lnSpc>
                <a:spcPct val="100000"/>
              </a:lnSpc>
              <a:spcBef>
                <a:spcPts val="281"/>
              </a:spcBef>
              <a:buClr>
                <a:srgbClr val="4bacc6"/>
              </a:buClr>
              <a:buFont typeface="Arial"/>
              <a:buChar char="•"/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Пятый уровень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31"/>
          </p:nvPr>
        </p:nvSpPr>
        <p:spPr>
          <a:xfrm rot="16200000">
            <a:off x="7551360" y="1648080"/>
            <a:ext cx="243612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lt2"/>
                </a:solidFill>
                <a:effectLst/>
                <a:uFillTx/>
                <a:latin typeface="Arial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32"/>
          </p:nvPr>
        </p:nvSpPr>
        <p:spPr>
          <a:xfrm rot="16200000">
            <a:off x="7587000" y="4050720"/>
            <a:ext cx="236520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33"/>
          </p:nvPr>
        </p:nvSpPr>
        <p:spPr>
          <a:xfrm>
            <a:off x="8531640" y="5649120"/>
            <a:ext cx="546480" cy="39420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0" rIns="0" t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C235B7A-53AF-4E84-AA03-73D4E497E96B}" type="slidenum"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bg>
      <p:bgPr>
        <a:gradFill rotWithShape="0">
          <a:gsLst>
            <a:gs pos="0">
              <a:srgbClr val="ffffff"/>
            </a:gs>
            <a:gs pos="75000">
              <a:srgbClr val="ffffff"/>
            </a:gs>
            <a:gs pos="100000">
              <a:srgbClr val="dadada"/>
            </a:gs>
          </a:gsLst>
          <a:path path="circle">
            <a:fillToRect l="10000" t="50000" r="9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"/>
          <p:cNvSpPr/>
          <p:nvPr/>
        </p:nvSpPr>
        <p:spPr>
          <a:xfrm>
            <a:off x="8458200" y="0"/>
            <a:ext cx="683640" cy="68558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7"/>
          <p:cNvSpPr/>
          <p:nvPr/>
        </p:nvSpPr>
        <p:spPr>
          <a:xfrm>
            <a:off x="8458200" y="5486400"/>
            <a:ext cx="683640" cy="683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593280"/>
            <a:ext cx="8518320" cy="76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</a:t>
            </a:r>
            <a:r>
              <a:rPr b="0" lang="ru-RU" sz="4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edit the </a:t>
            </a:r>
            <a:r>
              <a:rPr b="0" lang="ru-RU" sz="4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title text </a:t>
            </a:r>
            <a:r>
              <a:rPr b="0" lang="ru-RU" sz="4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format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11760" y="1536480"/>
            <a:ext cx="8518320" cy="455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34"/>
          </p:nvPr>
        </p:nvSpPr>
        <p:spPr>
          <a:xfrm>
            <a:off x="8472600" y="6217560"/>
            <a:ext cx="546480" cy="522720"/>
          </a:xfrm>
          <a:prstGeom prst="rect">
            <a:avLst/>
          </a:prstGeom>
          <a:noFill/>
          <a:ln w="19080">
            <a:solidFill>
              <a:srgbClr val="ffffff"/>
            </a:solidFill>
            <a:round/>
          </a:ln>
        </p:spPr>
        <p:txBody>
          <a:bodyPr lIns="91440" rIns="91440" tIns="91440" bIns="91440" anchor="ctr">
            <a:norm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" sz="18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347A31-BDFA-4F7E-A8BD-6C67CE9FAF0C}" type="slidenum">
              <a:rPr b="0" lang="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ru-RU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github.com/D-M-00/gamegoodbay.git" TargetMode="Externa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3.png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13.png"/><Relationship Id="rId5" Type="http://schemas.openxmlformats.org/officeDocument/2006/relationships/image" Target="../media/image30.png"/><Relationship Id="rId6" Type="http://schemas.openxmlformats.org/officeDocument/2006/relationships/image" Target="../media/image13.png"/><Relationship Id="rId7" Type="http://schemas.openxmlformats.org/officeDocument/2006/relationships/image" Target="../media/image30.png"/><Relationship Id="rId8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30.png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30.png"/><Relationship Id="rId4" Type="http://schemas.openxmlformats.org/officeDocument/2006/relationships/image" Target="../media/image30.png"/><Relationship Id="rId5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d-m-00.github.io/" TargetMode="Externa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image" Target="../media/image50.png"/><Relationship Id="rId3" Type="http://schemas.openxmlformats.org/officeDocument/2006/relationships/image" Target="../media/image45.png"/><Relationship Id="rId4" Type="http://schemas.openxmlformats.org/officeDocument/2006/relationships/image" Target="../media/image51.png"/><Relationship Id="rId5" Type="http://schemas.openxmlformats.org/officeDocument/2006/relationships/image" Target="../media/image23.png"/><Relationship Id="rId6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45.png"/><Relationship Id="rId5" Type="http://schemas.openxmlformats.org/officeDocument/2006/relationships/image" Target="../media/image56.png"/><Relationship Id="rId6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image" Target="../media/image54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55.png"/><Relationship Id="rId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9" descr=""/>
          <p:cNvPicPr/>
          <p:nvPr/>
        </p:nvPicPr>
        <p:blipFill>
          <a:blip r:embed="rId1"/>
          <a:srcRect l="-361" t="0" r="20700" b="0"/>
          <a:stretch/>
        </p:blipFill>
        <p:spPr>
          <a:xfrm>
            <a:off x="5860800" y="2421000"/>
            <a:ext cx="3281040" cy="443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83640" y="535680"/>
            <a:ext cx="2600280" cy="72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Игра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611640" y="1628640"/>
            <a:ext cx="7774560" cy="25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 Black"/>
              </a:rPr>
              <a:t>THE </a:t>
            </a:r>
            <a:r>
              <a:rPr b="0" lang="en-US" sz="6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 Black"/>
              </a:rPr>
              <a:t>STUDY</a:t>
            </a:r>
            <a:r>
              <a:rPr b="0" lang="en-US" sz="6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 Black"/>
              </a:rPr>
              <a:t>IG </a:t>
            </a:r>
            <a:r>
              <a:rPr b="0" lang="en-US" sz="6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 Black"/>
              </a:rPr>
              <a:t>LIVE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Рисунок 3" descr=""/>
          <p:cNvPicPr/>
          <p:nvPr/>
        </p:nvPicPr>
        <p:blipFill>
          <a:blip r:embed="rId2"/>
          <a:stretch/>
        </p:blipFill>
        <p:spPr>
          <a:xfrm>
            <a:off x="2483640" y="476640"/>
            <a:ext cx="868320" cy="86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10" descr=""/>
          <p:cNvPicPr/>
          <p:nvPr/>
        </p:nvPicPr>
        <p:blipFill>
          <a:blip r:embed="rId3"/>
          <a:stretch/>
        </p:blipFill>
        <p:spPr>
          <a:xfrm>
            <a:off x="4995360" y="5301360"/>
            <a:ext cx="1443240" cy="144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Рисунок 11" descr=""/>
          <p:cNvPicPr/>
          <p:nvPr/>
        </p:nvPicPr>
        <p:blipFill>
          <a:blip r:embed="rId4"/>
          <a:stretch/>
        </p:blipFill>
        <p:spPr>
          <a:xfrm>
            <a:off x="7380360" y="332640"/>
            <a:ext cx="926640" cy="92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Заголовок 1"/>
          <p:cNvSpPr/>
          <p:nvPr/>
        </p:nvSpPr>
        <p:spPr>
          <a:xfrm>
            <a:off x="755640" y="3703320"/>
            <a:ext cx="3886200" cy="93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85000" lnSpcReduction="19999"/>
          </a:bodyPr>
          <a:p>
            <a:pPr defTabSz="9144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400" strike="noStrike" u="none" cap="small">
                <a:solidFill>
                  <a:schemeClr val="dk2"/>
                </a:solidFill>
                <a:effectLst/>
                <a:uFillTx/>
                <a:latin typeface="Arial"/>
                <a:ea typeface="Verdana"/>
              </a:rPr>
              <a:t>Капитан команды:  Бочков Виталий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Прямоугольник 8"/>
          <p:cNvSpPr/>
          <p:nvPr/>
        </p:nvSpPr>
        <p:spPr>
          <a:xfrm>
            <a:off x="714240" y="4857840"/>
            <a:ext cx="406980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2200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Наставник: Зверев Денис Александрович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5769000" cy="91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C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остав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команды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971640" y="1217880"/>
            <a:ext cx="6841080" cy="56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2800" strike="noStrike" u="sng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a"/>
              </a:rPr>
              <a:t>Дизайн</a:t>
            </a: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</a:rPr>
              <a:t>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Тетерина Мария, Каргина Снежана.</a:t>
            </a:r>
            <a:br>
              <a:rPr sz="2800"/>
            </a:br>
            <a:br>
              <a:rPr sz="2800"/>
            </a:br>
            <a:r>
              <a:rPr b="1" lang="ru-RU" sz="2800" strike="noStrike" u="sng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Программирование</a:t>
            </a: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Бочков Виталий, Казанчеев Сергей и Малыгин Доминик.</a:t>
            </a:r>
            <a:br>
              <a:rPr sz="2800"/>
            </a:b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800" strike="noStrike" u="sng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Реклама</a:t>
            </a: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Гафиева Карина, Лоргова Екатерина. </a:t>
            </a:r>
            <a:br>
              <a:rPr sz="2800"/>
            </a:b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800" strike="noStrike" u="sng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Торговое дело</a:t>
            </a:r>
            <a:r>
              <a:rPr b="1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: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28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ahomo"/>
                <a:ea typeface="Noto Sans CJK SC"/>
              </a:rPr>
              <a:t> Киршин Данил.</a:t>
            </a:r>
            <a:br>
              <a:rPr sz="2800"/>
            </a:b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Рисунок 6" descr=""/>
          <p:cNvPicPr/>
          <p:nvPr/>
        </p:nvPicPr>
        <p:blipFill>
          <a:blip r:embed="rId1"/>
          <a:stretch/>
        </p:blipFill>
        <p:spPr>
          <a:xfrm>
            <a:off x="7143840" y="142920"/>
            <a:ext cx="1443240" cy="144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Рисунок 7" descr=""/>
          <p:cNvPicPr/>
          <p:nvPr/>
        </p:nvPicPr>
        <p:blipFill>
          <a:blip r:embed="rId2"/>
          <a:stretch/>
        </p:blipFill>
        <p:spPr>
          <a:xfrm>
            <a:off x="395640" y="5445360"/>
            <a:ext cx="818640" cy="81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 rot="10800000">
            <a:off x="2223720" y="3571920"/>
            <a:ext cx="7762680" cy="19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25000" lnSpcReduction="1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" sz="9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АНАЛИЗ РЫНКА ИГР</a:t>
            </a:r>
            <a:endParaRPr b="0" lang="ru-RU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Google Shape;61;p14"/>
          <p:cNvGraphicFramePr/>
          <p:nvPr/>
        </p:nvGraphicFramePr>
        <p:xfrm>
          <a:off x="214200" y="285840"/>
          <a:ext cx="8172720" cy="6248880"/>
        </p:xfrm>
        <a:graphic>
          <a:graphicData uri="http://schemas.openxmlformats.org/drawingml/2006/table">
            <a:tbl>
              <a:tblPr/>
              <a:tblGrid>
                <a:gridCol w="2130120"/>
                <a:gridCol w="2267640"/>
                <a:gridCol w="1873440"/>
                <a:gridCol w="1901880"/>
              </a:tblGrid>
              <a:tr h="62172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5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1" lang="ru" sz="15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ИГРА 1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1" lang="ru" sz="15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ИГРА</a:t>
                      </a:r>
                      <a:r>
                        <a:rPr b="1" lang="ru" sz="15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</a:t>
                      </a:r>
                      <a:r>
                        <a:rPr b="1" lang="ru" sz="15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 2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1" lang="ru" sz="15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ИГРА 3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51840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Ссылка на игру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https://steamdb.info/app/641990/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https://steamdb.info/app/589590/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https://steamdb.info/app/650700/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51840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Название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</a:t>
                      </a:r>
                      <a:r>
                        <a:rPr b="1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The Escapists 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</a:t>
                      </a:r>
                      <a:r>
                        <a:rPr b="1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Kindergarten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 </a:t>
                      </a:r>
                      <a:r>
                        <a:rPr b="1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Yume Nikki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5856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Стоимость игры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184 руб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33 руб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бесплатно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35856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Разработчик игр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Team17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SmashGames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kikiyama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59832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Каналы продвижения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ютуб, твич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ютуб, твич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ютуб, твич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35856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Рейтинг игры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88%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93%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91%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11780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Целевая аудитория (возраст, пол, интересы)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16+, мужской и женский пол, любители решать загадки и создавать планы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16+, мужской и женский пол, любители отдохнуть от будничной рутины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16+, мужской и женский пол,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любители разбираться в мистических вещах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35856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Платформа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pc, ps, xbox, mobile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pc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pc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114624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2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Ваш пользовательский опыт (что понравилось, что нет и тд)</a:t>
                      </a:r>
                      <a:endParaRPr b="0" lang="ru-RU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понравилось прохождение, не понравилось короткость продукта для прохождения игры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понравился сюжет, не понравилось непонятный конец игры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хорошая игра головоломка, но она на английском языке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101" name="Рисунок 5" descr=""/>
          <p:cNvPicPr/>
          <p:nvPr/>
        </p:nvPicPr>
        <p:blipFill>
          <a:blip r:embed="rId1"/>
          <a:stretch/>
        </p:blipFill>
        <p:spPr>
          <a:xfrm>
            <a:off x="-1116720" y="3645000"/>
            <a:ext cx="573840" cy="57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Рисунок 6" descr=""/>
          <p:cNvPicPr/>
          <p:nvPr/>
        </p:nvPicPr>
        <p:blipFill>
          <a:blip r:embed="rId2"/>
          <a:stretch/>
        </p:blipFill>
        <p:spPr>
          <a:xfrm>
            <a:off x="140400" y="75240"/>
            <a:ext cx="573840" cy="57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Заголовок 1"/>
          <p:cNvSpPr/>
          <p:nvPr/>
        </p:nvSpPr>
        <p:spPr>
          <a:xfrm>
            <a:off x="3408120" y="6242760"/>
            <a:ext cx="232596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rmAutofit fontScale="92500" lnSpcReduction="9999"/>
          </a:bodyPr>
          <a:p>
            <a:pPr defTabSz="914400">
              <a:lnSpc>
                <a:spcPct val="100000"/>
              </a:lnSpc>
            </a:pPr>
            <a:endParaRPr b="0" lang="ru-RU" sz="2400" strike="noStrike" u="none" cap="small">
              <a:solidFill>
                <a:schemeClr val="dk2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5"/>
          <p:cNvSpPr/>
          <p:nvPr/>
        </p:nvSpPr>
        <p:spPr>
          <a:xfrm>
            <a:off x="311760" y="281520"/>
            <a:ext cx="8518320" cy="5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2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Целевая аудитория: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 </a:t>
            </a:r>
            <a:r>
              <a:rPr b="1" lang="en-US" sz="4000" strike="noStrike" u="none" cap="small">
                <a:solidFill>
                  <a:schemeClr val="dk2"/>
                </a:solidFill>
                <a:effectLst/>
                <a:uFillTx/>
                <a:latin typeface="Roboto"/>
                <a:ea typeface="Roboto"/>
              </a:rPr>
              <a:t>THE STUDYING LIVE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5" name="Google Shape;67;p15"/>
          <p:cNvGraphicFramePr/>
          <p:nvPr/>
        </p:nvGraphicFramePr>
        <p:xfrm>
          <a:off x="285840" y="1628640"/>
          <a:ext cx="8210880" cy="4131000"/>
        </p:xfrm>
        <a:graphic>
          <a:graphicData uri="http://schemas.openxmlformats.org/drawingml/2006/table">
            <a:tbl>
              <a:tblPr/>
              <a:tblGrid>
                <a:gridCol w="3493440"/>
                <a:gridCol w="1584000"/>
                <a:gridCol w="1584000"/>
                <a:gridCol w="1549800"/>
              </a:tblGrid>
              <a:tr h="493920"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Критерий сегментации</a:t>
                      </a:r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1" lang="ru" sz="20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ЦА 1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1" lang="ru" sz="20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ЦА 2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algn="ctr"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1" lang="ru" sz="20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ЦА 3</a:t>
                      </a:r>
                      <a:endParaRPr b="0" lang="ru-RU" sz="2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5"/>
                    </a:solidFill>
                  </a:tcPr>
                </a:tc>
              </a:tr>
              <a:tr h="72000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Демография</a:t>
                      </a: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(пол)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мужской, женский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мужской, женский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</a:t>
                      </a: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мужской, женский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46296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Демография</a:t>
                      </a: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(возраст)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16+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16+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16+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96048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Психологические типы </a:t>
                      </a: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(например, сегментация по Бартлу)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Социалы, достиженцы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Социалы, достиженцы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 </a:t>
                      </a:r>
                      <a:r>
                        <a:rPr b="0" lang="ru" sz="16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Социалы</a:t>
                      </a:r>
                      <a:endParaRPr b="0" lang="ru-RU" sz="16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  <a:tr h="82800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Принятие инноваций в играх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Свобода действий в симуляторе тюрьмы 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Простота, юмор, релевантность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Один из первых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психологических хорроров с мистическими головоломками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462960"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algn="l" pos="0"/>
                        </a:tabLst>
                      </a:pPr>
                      <a:r>
                        <a:rPr b="0" lang="ru" sz="18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 Black"/>
                        </a:rPr>
                        <a:t>Платежеспособность 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Покупка карт и скинов 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Покупка частей игры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lIns="95040" rIns="9504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ru" sz="11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e9eff7"/>
                          </a:highlight>
                          <a:uFillTx/>
                          <a:latin typeface="Arial"/>
                        </a:rPr>
                        <a:t>Полностью бесплатна</a:t>
                      </a:r>
                      <a:endParaRPr b="0" lang="ru-RU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5040" marR="95040">
                    <a:lnL w="9360">
                      <a:solidFill>
                        <a:srgbClr val="ffffff"/>
                      </a:solidFill>
                      <a:prstDash val="solid"/>
                    </a:lnL>
                    <a:lnR w="9360">
                      <a:solidFill>
                        <a:srgbClr val="ffffff"/>
                      </a:solidFill>
                      <a:prstDash val="solid"/>
                    </a:lnR>
                    <a:lnT w="9360">
                      <a:solidFill>
                        <a:srgbClr val="ffffff"/>
                      </a:solidFill>
                      <a:prstDash val="solid"/>
                    </a:lnT>
                    <a:lnB w="93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pic>
        <p:nvPicPr>
          <p:cNvPr id="106" name="Рисунок 9" descr=""/>
          <p:cNvPicPr/>
          <p:nvPr/>
        </p:nvPicPr>
        <p:blipFill>
          <a:blip r:embed="rId1"/>
          <a:stretch/>
        </p:blipFill>
        <p:spPr>
          <a:xfrm>
            <a:off x="7812360" y="601560"/>
            <a:ext cx="1149840" cy="114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Рисунок 10" descr=""/>
          <p:cNvPicPr/>
          <p:nvPr/>
        </p:nvPicPr>
        <p:blipFill>
          <a:blip r:embed="rId2"/>
          <a:stretch/>
        </p:blipFill>
        <p:spPr>
          <a:xfrm>
            <a:off x="107640" y="427680"/>
            <a:ext cx="467280" cy="46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Рисунок 11" descr=""/>
          <p:cNvPicPr/>
          <p:nvPr/>
        </p:nvPicPr>
        <p:blipFill>
          <a:blip r:embed="rId3"/>
          <a:stretch/>
        </p:blipFill>
        <p:spPr>
          <a:xfrm>
            <a:off x="8028360" y="5949360"/>
            <a:ext cx="467280" cy="46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Концепци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я игры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073000" cy="254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The Studying Life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— это симулятор жизни, где игроки берут на себя роль 17-летнего Олега, который стремится изменить свою судьбу после неудачи в школе. Игра сочетает элементы развития персонажа, обучения и личных отношений.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  <a:hlinkClick r:id="rId1"/>
              </a:rPr>
              <a:t>https://github.com/D-M-00/gamegoodbay.git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Рисунок 6" descr=""/>
          <p:cNvPicPr/>
          <p:nvPr/>
        </p:nvPicPr>
        <p:blipFill>
          <a:blip r:embed="rId2"/>
          <a:srcRect l="0" t="0" r="0" b="52099"/>
          <a:stretch/>
        </p:blipFill>
        <p:spPr>
          <a:xfrm>
            <a:off x="4749120" y="3085560"/>
            <a:ext cx="3935520" cy="377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10" descr=""/>
          <p:cNvPicPr/>
          <p:nvPr/>
        </p:nvPicPr>
        <p:blipFill>
          <a:blip r:embed="rId3"/>
          <a:stretch/>
        </p:blipFill>
        <p:spPr>
          <a:xfrm>
            <a:off x="4761360" y="2961360"/>
            <a:ext cx="818640" cy="81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Рисунок 12" descr=""/>
          <p:cNvPicPr/>
          <p:nvPr/>
        </p:nvPicPr>
        <p:blipFill>
          <a:blip r:embed="rId4"/>
          <a:stretch/>
        </p:blipFill>
        <p:spPr>
          <a:xfrm>
            <a:off x="611640" y="5052600"/>
            <a:ext cx="1443240" cy="144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Рисунок 14" descr=""/>
          <p:cNvPicPr/>
          <p:nvPr/>
        </p:nvPicPr>
        <p:blipFill>
          <a:blip r:embed="rId5"/>
          <a:stretch/>
        </p:blipFill>
        <p:spPr>
          <a:xfrm>
            <a:off x="7157880" y="438120"/>
            <a:ext cx="764640" cy="7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Рисунок 15" descr=""/>
          <p:cNvPicPr/>
          <p:nvPr/>
        </p:nvPicPr>
        <p:blipFill>
          <a:blip r:embed="rId6"/>
          <a:stretch/>
        </p:blipFill>
        <p:spPr>
          <a:xfrm>
            <a:off x="6807960" y="986760"/>
            <a:ext cx="467280" cy="46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465320" cy="72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Продукто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вая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матрица 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7" name="Google Shape;79;p17"/>
          <p:cNvGraphicFramePr/>
          <p:nvPr/>
        </p:nvGraphicFramePr>
        <p:xfrm>
          <a:off x="439560" y="1110240"/>
          <a:ext cx="7660080" cy="5000760"/>
        </p:xfrm>
        <a:graphic>
          <a:graphicData uri="http://schemas.openxmlformats.org/drawingml/2006/table">
            <a:tbl>
              <a:tblPr/>
              <a:tblGrid>
                <a:gridCol w="1789560"/>
                <a:gridCol w="5870880"/>
              </a:tblGrid>
              <a:tr h="471240"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Вид товара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</a:rPr>
                        <a:t>Одиночная игра про колледж, симулятор жизни + стратегия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  <a:tr h="730440"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Лид-магнит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Бесплатный мини-квест ("Первый день в колледже") – дает вкус геймплея. 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  <a:tr h="471240"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Трипваер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DLS (Панишев и битва с китайцами во время срочной службы).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  <a:tr h="1028160"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Main offer (основной продукт)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</a:rPr>
                        <a:t>Продажа лицензии на игру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  <a:tr h="736920"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Максимизатор прибыли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</a:rPr>
                        <a:t>Последующие главы игры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  <a:tr h="736920"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Премиум продукт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</a:rPr>
                        <a:t>Покупка всех глав игры (меньше стоимость чем покупка поштучно)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  <a:tr h="736920">
                <a:tc>
                  <a:txBody>
                    <a:bodyPr lIns="66600" rIns="66600" anchor="ctr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 Black"/>
                        </a:rPr>
                        <a:t>Тропинка возврата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6600" rIns="66600" anchor="t">
                      <a:noAutofit/>
                    </a:bodyPr>
                    <a:p>
                      <a:pPr defTabSz="914400">
                        <a:lnSpc>
                          <a:spcPct val="138000"/>
                        </a:lnSpc>
                        <a:tabLst>
                          <a:tab algn="l" pos="0"/>
                        </a:tabLst>
                      </a:pPr>
                      <a:r>
                        <a:rPr b="0" lang="ru" sz="1400" strike="noStrike" u="none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uFillTx/>
                          <a:latin typeface="Arial"/>
                        </a:rPr>
                        <a:t>Продолжение последующих глав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6600" marR="66600">
                    <a:lnL w="12240">
                      <a:solidFill>
                        <a:srgbClr val="f79646"/>
                      </a:solidFill>
                      <a:prstDash val="solid"/>
                    </a:lnL>
                    <a:lnR w="12240">
                      <a:solidFill>
                        <a:srgbClr val="f79646"/>
                      </a:solidFill>
                      <a:prstDash val="solid"/>
                    </a:lnR>
                    <a:lnT w="12240">
                      <a:solidFill>
                        <a:srgbClr val="f79646"/>
                      </a:solidFill>
                      <a:prstDash val="solid"/>
                    </a:lnT>
                    <a:lnB w="12240">
                      <a:solidFill>
                        <a:srgbClr val="f7964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8" name="Рисунок 6" descr=""/>
          <p:cNvPicPr/>
          <p:nvPr/>
        </p:nvPicPr>
        <p:blipFill>
          <a:blip r:embed="rId1"/>
          <a:stretch/>
        </p:blipFill>
        <p:spPr>
          <a:xfrm>
            <a:off x="53640" y="6021360"/>
            <a:ext cx="764640" cy="76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Рисунок 7" descr=""/>
          <p:cNvPicPr/>
          <p:nvPr/>
        </p:nvPicPr>
        <p:blipFill>
          <a:blip r:embed="rId2"/>
          <a:stretch/>
        </p:blipFill>
        <p:spPr>
          <a:xfrm>
            <a:off x="7657920" y="233280"/>
            <a:ext cx="764640" cy="764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92480" y="421920"/>
            <a:ext cx="3326760" cy="50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Сюжет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игры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Прямоугольник 4"/>
          <p:cNvSpPr/>
          <p:nvPr/>
        </p:nvSpPr>
        <p:spPr>
          <a:xfrm>
            <a:off x="599760" y="1472400"/>
            <a:ext cx="695880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  История начинается с того, что Олег решает уйти из школы из-за неподходящего учителя. Он выбирает поступить в МВЕУ, чтобы начать новую жизнь. Игроки наблюдают, как Олег адаптируется к университетской жизни, встречает новых друзей, участвует в конкурсах и открывает свои таланты.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Рисунок 7" descr=""/>
          <p:cNvPicPr/>
          <p:nvPr/>
        </p:nvPicPr>
        <p:blipFill>
          <a:blip r:embed="rId1"/>
          <a:stretch/>
        </p:blipFill>
        <p:spPr>
          <a:xfrm>
            <a:off x="4086000" y="300960"/>
            <a:ext cx="467280" cy="46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8" descr=""/>
          <p:cNvPicPr/>
          <p:nvPr/>
        </p:nvPicPr>
        <p:blipFill>
          <a:blip r:embed="rId2"/>
          <a:stretch/>
        </p:blipFill>
        <p:spPr>
          <a:xfrm>
            <a:off x="7308360" y="5240160"/>
            <a:ext cx="987840" cy="9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Рисунок 9" descr=""/>
          <p:cNvPicPr/>
          <p:nvPr/>
        </p:nvPicPr>
        <p:blipFill>
          <a:blip r:embed="rId3"/>
          <a:stretch/>
        </p:blipFill>
        <p:spPr>
          <a:xfrm>
            <a:off x="395640" y="5819760"/>
            <a:ext cx="818640" cy="81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39640" y="620640"/>
            <a:ext cx="5038560" cy="72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Игровой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процесс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20000"/>
            <a:ext cx="7617960" cy="47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Задача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хорошо учиться, что включает активное общение с одногруппниками и преподавателями. Перед парой важно обсудить предстоящие темы, задать вопросы и уточнить непонятные моменты. Во время занятия следует активно участвовать в обсуждениях и задавать вопросы. После пары полезно обменяться мнениями о пройденном материале и обсудить сложные моменты для лучшего понимания.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Рисунок 5" descr=""/>
          <p:cNvPicPr/>
          <p:nvPr/>
        </p:nvPicPr>
        <p:blipFill>
          <a:blip r:embed="rId1"/>
          <a:stretch/>
        </p:blipFill>
        <p:spPr>
          <a:xfrm>
            <a:off x="7113960" y="479520"/>
            <a:ext cx="818640" cy="81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Рисунок 6" descr=""/>
          <p:cNvPicPr/>
          <p:nvPr/>
        </p:nvPicPr>
        <p:blipFill>
          <a:blip r:embed="rId2"/>
          <a:stretch/>
        </p:blipFill>
        <p:spPr>
          <a:xfrm>
            <a:off x="1225080" y="5733360"/>
            <a:ext cx="899280" cy="89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Уникальн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ое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торговое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предложе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ние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617960" cy="47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«В нашем колледже мы создаем атмосферу взаимопомощи, где студенты легко обсуждают учебные вопросы, что делает обучение эффективным и увлекательным!»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Рисунок 9" descr=""/>
          <p:cNvPicPr/>
          <p:nvPr/>
        </p:nvPicPr>
        <p:blipFill>
          <a:blip r:embed="rId1"/>
          <a:stretch/>
        </p:blipFill>
        <p:spPr>
          <a:xfrm>
            <a:off x="1590480" y="3213000"/>
            <a:ext cx="7287840" cy="728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Рисунок 10" descr=""/>
          <p:cNvPicPr/>
          <p:nvPr/>
        </p:nvPicPr>
        <p:blipFill>
          <a:blip r:embed="rId2"/>
          <a:stretch/>
        </p:blipFill>
        <p:spPr>
          <a:xfrm>
            <a:off x="4242600" y="2997000"/>
            <a:ext cx="626040" cy="62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Рисунок 11" descr=""/>
          <p:cNvPicPr/>
          <p:nvPr/>
        </p:nvPicPr>
        <p:blipFill>
          <a:blip r:embed="rId3"/>
          <a:stretch/>
        </p:blipFill>
        <p:spPr>
          <a:xfrm>
            <a:off x="548280" y="5733360"/>
            <a:ext cx="668520" cy="668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43240" y="-2763720"/>
            <a:ext cx="7664760" cy="251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475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4600"/>
            </a:br>
            <a:br>
              <a:rPr sz="4600"/>
            </a:br>
            <a:br>
              <a:rPr sz="4600"/>
            </a:br>
            <a:br>
              <a:rPr sz="4600"/>
            </a:br>
            <a:br>
              <a:rPr sz="4600"/>
            </a:br>
            <a:br>
              <a:rPr sz="4600"/>
            </a:br>
            <a:br>
              <a:rPr sz="4600"/>
            </a:br>
            <a:br>
              <a:rPr sz="4600"/>
            </a:br>
            <a:r>
              <a:rPr b="0" lang="ru-RU" sz="44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Конкурен</a:t>
            </a:r>
            <a:r>
              <a:rPr b="0" lang="ru-RU" sz="44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тные </a:t>
            </a:r>
            <a:r>
              <a:rPr b="0" lang="ru-RU" sz="44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преимущ</a:t>
            </a:r>
            <a:r>
              <a:rPr b="0" lang="ru-RU" sz="44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ества </a:t>
            </a:r>
            <a:r>
              <a:rPr b="0" lang="ru-RU" sz="44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игры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617960" cy="47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1. </a:t>
            </a: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Уникальный геймплей</a:t>
            </a:r>
            <a:r>
              <a:rPr b="0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– возможность совмещать обучение и развлечения, что привлекает молодежную аудиторию.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2.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Актуальность темы</a:t>
            </a:r>
            <a:r>
              <a:rPr b="0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– колледж и студенческая жизнь близки многим игрокам, что вызывает интерес и вовлеченность.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 Black"/>
              </a:rPr>
              <a:t>3.  </a:t>
            </a: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Разнообразие контента</a:t>
            </a:r>
            <a:r>
              <a:rPr b="0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– множество квестов, заданий и историй, которые отражают реальные ситуации из студенческой жизни.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 Black"/>
                <a:ea typeface="Noto Sans CJK SC"/>
              </a:rPr>
              <a:t>4. 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</a:t>
            </a: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Кастомизация персонаже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– возможность создавать уникальных персонажей, что позволяет игрокам выражать свою индивидуальность.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 Black"/>
                <a:ea typeface="Noto Sans CJK SC"/>
              </a:rPr>
              <a:t>5.  </a:t>
            </a: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Образовательные элементы</a:t>
            </a: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rPr>
              <a:t> – интеграция знаний и навыков, полезных для реальной жизни, что делает игру познавательной.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Рисунок 5" descr=""/>
          <p:cNvPicPr/>
          <p:nvPr/>
        </p:nvPicPr>
        <p:blipFill>
          <a:blip r:embed="rId1"/>
          <a:stretch/>
        </p:blipFill>
        <p:spPr>
          <a:xfrm>
            <a:off x="7380360" y="332640"/>
            <a:ext cx="1114560" cy="111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Рисунок 6" descr=""/>
          <p:cNvPicPr/>
          <p:nvPr/>
        </p:nvPicPr>
        <p:blipFill>
          <a:blip r:embed="rId2"/>
          <a:stretch/>
        </p:blipFill>
        <p:spPr>
          <a:xfrm>
            <a:off x="7738200" y="5877360"/>
            <a:ext cx="668520" cy="66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" name="Рисунок 7" descr=""/>
          <p:cNvPicPr/>
          <p:nvPr/>
        </p:nvPicPr>
        <p:blipFill>
          <a:blip r:embed="rId3"/>
          <a:stretch/>
        </p:blipFill>
        <p:spPr>
          <a:xfrm>
            <a:off x="107640" y="189360"/>
            <a:ext cx="586440" cy="58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PlaceHolder 3"/>
          <p:cNvSpPr/>
          <p:nvPr/>
        </p:nvSpPr>
        <p:spPr>
          <a:xfrm>
            <a:off x="457560" y="286560"/>
            <a:ext cx="7617960" cy="11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Конкурентные преимущества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80000" y="117720"/>
            <a:ext cx="7918560" cy="60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Финансов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ая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бизнес-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модель </a:t>
            </a:r>
            <a:r>
              <a:rPr b="0" lang="ru-RU" sz="42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игры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" name="Рисунок 4" descr=""/>
          <p:cNvPicPr/>
          <p:nvPr/>
        </p:nvPicPr>
        <p:blipFill>
          <a:blip r:embed="rId1"/>
          <a:stretch/>
        </p:blipFill>
        <p:spPr>
          <a:xfrm>
            <a:off x="847080" y="5400000"/>
            <a:ext cx="149148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Рисунок 5" descr=""/>
          <p:cNvPicPr/>
          <p:nvPr/>
        </p:nvPicPr>
        <p:blipFill>
          <a:blip r:embed="rId2"/>
          <a:stretch/>
        </p:blipFill>
        <p:spPr>
          <a:xfrm>
            <a:off x="7652520" y="180000"/>
            <a:ext cx="626040" cy="626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3" name="Таблица 6"/>
          <p:cNvGraphicFramePr/>
          <p:nvPr/>
        </p:nvGraphicFramePr>
        <p:xfrm>
          <a:off x="269280" y="744480"/>
          <a:ext cx="7710480" cy="5700960"/>
        </p:xfrm>
        <a:graphic>
          <a:graphicData uri="http://schemas.openxmlformats.org/drawingml/2006/table">
            <a:tbl>
              <a:tblPr/>
              <a:tblGrid>
                <a:gridCol w="2553480"/>
                <a:gridCol w="1067040"/>
                <a:gridCol w="1442880"/>
                <a:gridCol w="1184040"/>
                <a:gridCol w="1463400"/>
              </a:tblGrid>
              <a:tr h="318600"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Статья расходов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количество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цена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сумма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источник финансирования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Персональный компьютер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75 000,00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375 000,00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3322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Лицензии и ПО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Реклама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85 000,00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85 001,00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Маркетинг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Прочие расходы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Регистрация ООО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5 500,00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5 501,00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Уставные капитал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20 000,00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20 001,00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Оборотный капитал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20 000,00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20 001,00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расходы на коммунальные платежи 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75 000,00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75 001,00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4588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250920"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5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ИТОГО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648 508,00 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200" rIns="720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9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9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7200" marR="720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Таблица 1"/>
          <p:cNvGraphicFramePr/>
          <p:nvPr/>
        </p:nvGraphicFramePr>
        <p:xfrm>
          <a:off x="-3240" y="1589760"/>
          <a:ext cx="8353800" cy="2553480"/>
        </p:xfrm>
        <a:graphic>
          <a:graphicData uri="http://schemas.openxmlformats.org/drawingml/2006/table">
            <a:tbl>
              <a:tblPr/>
              <a:tblGrid>
                <a:gridCol w="996120"/>
                <a:gridCol w="613080"/>
                <a:gridCol w="613080"/>
                <a:gridCol w="613080"/>
                <a:gridCol w="613080"/>
                <a:gridCol w="536400"/>
                <a:gridCol w="594360"/>
                <a:gridCol w="490680"/>
                <a:gridCol w="490680"/>
                <a:gridCol w="490680"/>
                <a:gridCol w="583560"/>
                <a:gridCol w="605160"/>
                <a:gridCol w="498600"/>
                <a:gridCol w="615600"/>
              </a:tblGrid>
              <a:tr h="571320">
                <a:tc>
                  <a:txBody>
                    <a:bodyPr lIns="3960" rIns="39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Показатель 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 месяц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ИТОГО за 12 месяцев 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00040">
                <a:tc>
                  <a:txBody>
                    <a:bodyPr lIns="3960" rIns="39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Количество проданных игр, шт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150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150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250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350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450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4250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357120">
                <a:tc>
                  <a:txBody>
                    <a:bodyPr lIns="3960" rIns="39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Цена игры, руб.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1089360">
                <a:tc>
                  <a:txBody>
                    <a:bodyPr lIns="3960" rIns="39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Доход от реализованной продукции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45000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45000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75000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105000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150000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150000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135000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150000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120000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960" rIns="39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5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1275000</a:t>
                      </a:r>
                      <a:endParaRPr b="0" lang="ru-RU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3960" marR="39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5" name="Прямоугольник 2"/>
          <p:cNvSpPr/>
          <p:nvPr/>
        </p:nvSpPr>
        <p:spPr>
          <a:xfrm>
            <a:off x="526320" y="281160"/>
            <a:ext cx="667296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Баланс денежных потоков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на 1 год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 1"/>
          <p:cNvSpPr/>
          <p:nvPr/>
        </p:nvSpPr>
        <p:spPr>
          <a:xfrm>
            <a:off x="500040" y="214200"/>
            <a:ext cx="578124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Текущие затраты 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 себестоимость игры 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7" name="Таблица 2"/>
          <p:cNvGraphicFramePr/>
          <p:nvPr/>
        </p:nvGraphicFramePr>
        <p:xfrm>
          <a:off x="642960" y="2000160"/>
          <a:ext cx="7070040" cy="3696120"/>
        </p:xfrm>
        <a:graphic>
          <a:graphicData uri="http://schemas.openxmlformats.org/drawingml/2006/table">
            <a:tbl>
              <a:tblPr/>
              <a:tblGrid>
                <a:gridCol w="842400"/>
                <a:gridCol w="455040"/>
                <a:gridCol w="455040"/>
                <a:gridCol w="455040"/>
                <a:gridCol w="455040"/>
                <a:gridCol w="455040"/>
                <a:gridCol w="455040"/>
                <a:gridCol w="455040"/>
                <a:gridCol w="455040"/>
                <a:gridCol w="455040"/>
                <a:gridCol w="455040"/>
                <a:gridCol w="455040"/>
                <a:gridCol w="455040"/>
                <a:gridCol w="767520"/>
              </a:tblGrid>
              <a:tr h="52416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Показатель 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10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 месяц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ИТОГО за 12 месяцев 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2416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Хостинг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24 000,00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2416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Реклама 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96 000,00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2416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Тех. Администратор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84 000,00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2416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Налоги ООО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2 700,00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2 700,00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4 500,00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5 400,00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5 400,00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6 300,00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7 200,00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8 400,00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9 000,00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7 200,00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76 800,00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2416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Менеджер по продажам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 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525600">
                <a:tc>
                  <a:txBody>
                    <a:bodyPr lIns="4320" rIns="432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1000" strike="noStrike" u="sng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ИТОГО 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19 700,00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19 700,00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21 500,00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22 400,00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22 400,00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23 300,00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24 200,00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26 000,00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26 000,00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25 400,00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26 000,00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24 200,00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320" rIns="432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280 800,00</a:t>
                      </a:r>
                      <a:endParaRPr b="0" lang="ru-RU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4320" marR="432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1"/>
          <p:cNvSpPr/>
          <p:nvPr/>
        </p:nvSpPr>
        <p:spPr>
          <a:xfrm>
            <a:off x="857160" y="785880"/>
            <a:ext cx="5512320" cy="70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4000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Срок окупаемости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Таблица 2"/>
          <p:cNvGraphicFramePr/>
          <p:nvPr/>
        </p:nvGraphicFramePr>
        <p:xfrm>
          <a:off x="1428840" y="2071800"/>
          <a:ext cx="5612760" cy="2214360"/>
        </p:xfrm>
        <a:graphic>
          <a:graphicData uri="http://schemas.openxmlformats.org/drawingml/2006/table">
            <a:tbl>
              <a:tblPr/>
              <a:tblGrid>
                <a:gridCol w="3786120"/>
                <a:gridCol w="1827000"/>
              </a:tblGrid>
              <a:tr h="872280">
                <a:tc>
                  <a:txBody>
                    <a:bodyPr lIns="9360" rIns="93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Срок окупаемости проекта, лет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0,33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671040">
                <a:tc>
                  <a:txBody>
                    <a:bodyPr lIns="9360" rIns="93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Сумма инвестиций, руб. 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425 507,00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  <a:tr h="671040">
                <a:tc>
                  <a:txBody>
                    <a:bodyPr lIns="9360" rIns="9360" anchor="b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Сумма годового дохода, руб. 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360" rIns="936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1 275 000,00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4bacc6"/>
                      </a:solidFill>
                      <a:prstDash val="solid"/>
                    </a:lnL>
                    <a:lnR w="12240">
                      <a:solidFill>
                        <a:srgbClr val="4bacc6"/>
                      </a:solidFill>
                      <a:prstDash val="solid"/>
                    </a:lnR>
                    <a:lnT w="12240">
                      <a:solidFill>
                        <a:srgbClr val="4bacc6"/>
                      </a:solidFill>
                      <a:prstDash val="solid"/>
                    </a:lnT>
                    <a:lnB w="12240">
                      <a:solidFill>
                        <a:srgbClr val="4bacc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Прямоугольник 3"/>
          <p:cNvSpPr/>
          <p:nvPr/>
        </p:nvSpPr>
        <p:spPr>
          <a:xfrm>
            <a:off x="745920" y="1080000"/>
            <a:ext cx="717264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1)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Название игры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the studying live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2) </a:t>
            </a: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Жанр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приключения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3)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Концепция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похождения в колледже и решения обычных задач, играя за студента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4)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Для кого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для школьников, которые хотят выбрать место обучения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5)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Актуальность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ситуации, с которыми сталкивается каждый студент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6</a:t>
            </a:r>
            <a:r>
              <a:rPr b="0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Референс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the escapists 2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7)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Игровой процесс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учись, общайся, выполняй задания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8)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Задача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проучиться все 5 дней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9)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Условие победы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можешь старательно учиться, искать лазейки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10)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Условие поражения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ничего не делать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11)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Камера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камера сверху и от третьего лица в 2D стиле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12)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Контент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жизнь студента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13) </a:t>
            </a:r>
            <a:r>
              <a:rPr b="1" lang="ru-RU" sz="18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Гипотезы к проверке при разработке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:сверяться с реальной жизнью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273240" y="180000"/>
            <a:ext cx="7465320" cy="8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Гейм дизайн документ  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Рисунок 8" descr=""/>
          <p:cNvPicPr/>
          <p:nvPr/>
        </p:nvPicPr>
        <p:blipFill>
          <a:blip r:embed="rId1"/>
          <a:stretch/>
        </p:blipFill>
        <p:spPr>
          <a:xfrm>
            <a:off x="323640" y="5805360"/>
            <a:ext cx="899280" cy="8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Рисунок 9" descr=""/>
          <p:cNvPicPr/>
          <p:nvPr/>
        </p:nvPicPr>
        <p:blipFill>
          <a:blip r:embed="rId2"/>
          <a:stretch/>
        </p:blipFill>
        <p:spPr>
          <a:xfrm>
            <a:off x="7327800" y="434160"/>
            <a:ext cx="1171440" cy="117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-84240"/>
            <a:ext cx="746532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br>
              <a:rPr sz="4600"/>
            </a:b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Отрисовка героя 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Рисунок 4" descr=""/>
          <p:cNvPicPr/>
          <p:nvPr/>
        </p:nvPicPr>
        <p:blipFill>
          <a:blip r:embed="rId1"/>
          <a:srcRect l="12386" t="13150" r="17540" b="17715"/>
          <a:stretch/>
        </p:blipFill>
        <p:spPr>
          <a:xfrm rot="16200000">
            <a:off x="316440" y="2228040"/>
            <a:ext cx="4361040" cy="3229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Рисунок 6" descr=""/>
          <p:cNvPicPr/>
          <p:nvPr/>
        </p:nvPicPr>
        <p:blipFill>
          <a:blip r:embed="rId2"/>
          <a:srcRect l="4565" t="19024" r="3338" b="5896"/>
          <a:stretch/>
        </p:blipFill>
        <p:spPr>
          <a:xfrm>
            <a:off x="4944600" y="2205000"/>
            <a:ext cx="3425400" cy="371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Рисунок 8" descr=""/>
          <p:cNvPicPr/>
          <p:nvPr/>
        </p:nvPicPr>
        <p:blipFill>
          <a:blip r:embed="rId3"/>
          <a:stretch/>
        </p:blipFill>
        <p:spPr>
          <a:xfrm>
            <a:off x="251640" y="5768280"/>
            <a:ext cx="899280" cy="8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Рисунок 9" descr=""/>
          <p:cNvPicPr/>
          <p:nvPr/>
        </p:nvPicPr>
        <p:blipFill>
          <a:blip r:embed="rId4"/>
          <a:stretch/>
        </p:blipFill>
        <p:spPr>
          <a:xfrm>
            <a:off x="7956360" y="1917000"/>
            <a:ext cx="899280" cy="89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Рисунок 10" descr=""/>
          <p:cNvPicPr/>
          <p:nvPr/>
        </p:nvPicPr>
        <p:blipFill>
          <a:blip r:embed="rId5"/>
          <a:stretch/>
        </p:blipFill>
        <p:spPr>
          <a:xfrm>
            <a:off x="6084000" y="423000"/>
            <a:ext cx="789840" cy="78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Рисунок 11" descr=""/>
          <p:cNvPicPr/>
          <p:nvPr/>
        </p:nvPicPr>
        <p:blipFill>
          <a:blip r:embed="rId6"/>
          <a:stretch/>
        </p:blipFill>
        <p:spPr>
          <a:xfrm>
            <a:off x="4114080" y="1484640"/>
            <a:ext cx="1065600" cy="1065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Интерфейс игры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Рисунок 4" descr=""/>
          <p:cNvPicPr/>
          <p:nvPr/>
        </p:nvPicPr>
        <p:blipFill>
          <a:blip r:embed="rId1"/>
          <a:srcRect l="1639" t="6288" r="1639" b="993"/>
          <a:stretch/>
        </p:blipFill>
        <p:spPr>
          <a:xfrm>
            <a:off x="1291680" y="1917000"/>
            <a:ext cx="6558840" cy="38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Рисунок 6" descr=""/>
          <p:cNvPicPr/>
          <p:nvPr/>
        </p:nvPicPr>
        <p:blipFill>
          <a:blip r:embed="rId2"/>
          <a:stretch/>
        </p:blipFill>
        <p:spPr>
          <a:xfrm>
            <a:off x="895320" y="1592280"/>
            <a:ext cx="789840" cy="78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4" name="Рисунок 7" descr=""/>
          <p:cNvPicPr/>
          <p:nvPr/>
        </p:nvPicPr>
        <p:blipFill>
          <a:blip r:embed="rId3"/>
          <a:stretch/>
        </p:blipFill>
        <p:spPr>
          <a:xfrm>
            <a:off x="7455600" y="5341320"/>
            <a:ext cx="789840" cy="78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5" name="Рисунок 8" descr=""/>
          <p:cNvPicPr/>
          <p:nvPr/>
        </p:nvPicPr>
        <p:blipFill>
          <a:blip r:embed="rId4"/>
          <a:stretch/>
        </p:blipFill>
        <p:spPr>
          <a:xfrm>
            <a:off x="7309800" y="231120"/>
            <a:ext cx="1228320" cy="122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Рисунок 9" descr=""/>
          <p:cNvPicPr/>
          <p:nvPr/>
        </p:nvPicPr>
        <p:blipFill>
          <a:blip r:embed="rId5"/>
          <a:stretch/>
        </p:blipFill>
        <p:spPr>
          <a:xfrm>
            <a:off x="6987960" y="1049040"/>
            <a:ext cx="641160" cy="64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Рисунок 10" descr=""/>
          <p:cNvPicPr/>
          <p:nvPr/>
        </p:nvPicPr>
        <p:blipFill>
          <a:blip r:embed="rId6"/>
          <a:stretch/>
        </p:blipFill>
        <p:spPr>
          <a:xfrm>
            <a:off x="895320" y="5854680"/>
            <a:ext cx="641160" cy="64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Готовый персонаж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Рисунок 4" descr=""/>
          <p:cNvPicPr/>
          <p:nvPr/>
        </p:nvPicPr>
        <p:blipFill>
          <a:blip r:embed="rId1"/>
          <a:stretch/>
        </p:blipFill>
        <p:spPr>
          <a:xfrm>
            <a:off x="5364000" y="1681560"/>
            <a:ext cx="4249800" cy="424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Рисунок 6" descr=""/>
          <p:cNvPicPr/>
          <p:nvPr/>
        </p:nvPicPr>
        <p:blipFill>
          <a:blip r:embed="rId2"/>
          <a:stretch/>
        </p:blipFill>
        <p:spPr>
          <a:xfrm>
            <a:off x="395640" y="1927440"/>
            <a:ext cx="3632400" cy="363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Рисунок 8" descr=""/>
          <p:cNvPicPr/>
          <p:nvPr/>
        </p:nvPicPr>
        <p:blipFill>
          <a:blip r:embed="rId3"/>
          <a:stretch/>
        </p:blipFill>
        <p:spPr>
          <a:xfrm>
            <a:off x="3060000" y="1845000"/>
            <a:ext cx="2475000" cy="371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Рисунок 9" descr=""/>
          <p:cNvPicPr/>
          <p:nvPr/>
        </p:nvPicPr>
        <p:blipFill>
          <a:blip r:embed="rId4"/>
          <a:stretch/>
        </p:blipFill>
        <p:spPr>
          <a:xfrm>
            <a:off x="7545600" y="258840"/>
            <a:ext cx="900360" cy="9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Рисунок 10" descr=""/>
          <p:cNvPicPr/>
          <p:nvPr/>
        </p:nvPicPr>
        <p:blipFill>
          <a:blip r:embed="rId5"/>
          <a:stretch/>
        </p:blipFill>
        <p:spPr>
          <a:xfrm>
            <a:off x="7151760" y="83736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Рисунок 11" descr=""/>
          <p:cNvPicPr/>
          <p:nvPr/>
        </p:nvPicPr>
        <p:blipFill>
          <a:blip r:embed="rId6"/>
          <a:stretch/>
        </p:blipFill>
        <p:spPr>
          <a:xfrm>
            <a:off x="1043640" y="5860800"/>
            <a:ext cx="900360" cy="9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Рисунок 12" descr=""/>
          <p:cNvPicPr/>
          <p:nvPr/>
        </p:nvPicPr>
        <p:blipFill>
          <a:blip r:embed="rId7"/>
          <a:stretch/>
        </p:blipFill>
        <p:spPr>
          <a:xfrm>
            <a:off x="7800120" y="6060240"/>
            <a:ext cx="645840" cy="6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Второстепенные персонажи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Рисунок 9" descr=""/>
          <p:cNvPicPr/>
          <p:nvPr/>
        </p:nvPicPr>
        <p:blipFill>
          <a:blip r:embed="rId1"/>
          <a:stretch/>
        </p:blipFill>
        <p:spPr>
          <a:xfrm>
            <a:off x="7545600" y="258840"/>
            <a:ext cx="900360" cy="9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Рисунок 10" descr=""/>
          <p:cNvPicPr/>
          <p:nvPr/>
        </p:nvPicPr>
        <p:blipFill>
          <a:blip r:embed="rId2"/>
          <a:stretch/>
        </p:blipFill>
        <p:spPr>
          <a:xfrm>
            <a:off x="7218000" y="79920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Рисунок 11" descr=""/>
          <p:cNvPicPr/>
          <p:nvPr/>
        </p:nvPicPr>
        <p:blipFill>
          <a:blip r:embed="rId3"/>
          <a:stretch/>
        </p:blipFill>
        <p:spPr>
          <a:xfrm>
            <a:off x="446400" y="5758560"/>
            <a:ext cx="900360" cy="90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Рисунок 12" descr=""/>
          <p:cNvPicPr/>
          <p:nvPr/>
        </p:nvPicPr>
        <p:blipFill>
          <a:blip r:embed="rId4"/>
          <a:stretch/>
        </p:blipFill>
        <p:spPr>
          <a:xfrm>
            <a:off x="1682280" y="452232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Рисунок 3" descr=""/>
          <p:cNvPicPr/>
          <p:nvPr/>
        </p:nvPicPr>
        <p:blipFill>
          <a:blip r:embed="rId5"/>
          <a:srcRect l="0" t="0" r="0" b="54201"/>
          <a:stretch/>
        </p:blipFill>
        <p:spPr>
          <a:xfrm>
            <a:off x="-436680" y="1161360"/>
            <a:ext cx="2918160" cy="267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" name="Рисунок 14" descr=""/>
          <p:cNvPicPr/>
          <p:nvPr/>
        </p:nvPicPr>
        <p:blipFill>
          <a:blip r:embed="rId6"/>
          <a:srcRect l="0" t="52099" r="0" b="0"/>
          <a:stretch/>
        </p:blipFill>
        <p:spPr>
          <a:xfrm>
            <a:off x="1406880" y="1232280"/>
            <a:ext cx="3028320" cy="290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Рисунок 16" descr=""/>
          <p:cNvPicPr/>
          <p:nvPr/>
        </p:nvPicPr>
        <p:blipFill>
          <a:blip r:embed="rId7"/>
          <a:srcRect l="0" t="52100" r="0" b="0"/>
          <a:stretch/>
        </p:blipFill>
        <p:spPr>
          <a:xfrm>
            <a:off x="3111840" y="1377720"/>
            <a:ext cx="2918160" cy="279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Рисунок 18" descr=""/>
          <p:cNvPicPr/>
          <p:nvPr/>
        </p:nvPicPr>
        <p:blipFill>
          <a:blip r:embed="rId8"/>
          <a:srcRect l="0" t="53150" r="0" b="0"/>
          <a:stretch/>
        </p:blipFill>
        <p:spPr>
          <a:xfrm>
            <a:off x="4640400" y="1452240"/>
            <a:ext cx="2840040" cy="266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Рисунок 20" descr=""/>
          <p:cNvPicPr/>
          <p:nvPr/>
        </p:nvPicPr>
        <p:blipFill>
          <a:blip r:embed="rId9"/>
          <a:srcRect l="0" t="54200" r="0" b="0"/>
          <a:stretch/>
        </p:blipFill>
        <p:spPr>
          <a:xfrm>
            <a:off x="6460920" y="1621440"/>
            <a:ext cx="2720520" cy="249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Рисунок 22" descr=""/>
          <p:cNvPicPr/>
          <p:nvPr/>
        </p:nvPicPr>
        <p:blipFill>
          <a:blip r:embed="rId10"/>
          <a:srcRect l="0" t="0" r="0" b="52100"/>
          <a:stretch/>
        </p:blipFill>
        <p:spPr>
          <a:xfrm>
            <a:off x="2006280" y="3884760"/>
            <a:ext cx="3059280" cy="293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Заголовок 1"/>
          <p:cNvSpPr/>
          <p:nvPr/>
        </p:nvSpPr>
        <p:spPr>
          <a:xfrm>
            <a:off x="434880" y="3704040"/>
            <a:ext cx="15696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Артем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Заголовок 1"/>
          <p:cNvSpPr/>
          <p:nvPr/>
        </p:nvSpPr>
        <p:spPr>
          <a:xfrm>
            <a:off x="2238480" y="3709080"/>
            <a:ext cx="15696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Максим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Заголовок 1"/>
          <p:cNvSpPr/>
          <p:nvPr/>
        </p:nvSpPr>
        <p:spPr>
          <a:xfrm>
            <a:off x="3954960" y="3727080"/>
            <a:ext cx="15696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Ульяна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Заголовок 1"/>
          <p:cNvSpPr/>
          <p:nvPr/>
        </p:nvSpPr>
        <p:spPr>
          <a:xfrm>
            <a:off x="5494320" y="3727080"/>
            <a:ext cx="15696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Никита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Заголовок 1"/>
          <p:cNvSpPr/>
          <p:nvPr/>
        </p:nvSpPr>
        <p:spPr>
          <a:xfrm>
            <a:off x="7359840" y="3727080"/>
            <a:ext cx="156960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Вика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Заголовок 1"/>
          <p:cNvSpPr/>
          <p:nvPr/>
        </p:nvSpPr>
        <p:spPr>
          <a:xfrm>
            <a:off x="4572000" y="5163120"/>
            <a:ext cx="263340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92500" lnSpcReduction="9999"/>
          </a:bodyPr>
          <a:p>
            <a:pPr defTabSz="914400">
              <a:lnSpc>
                <a:spcPct val="100000"/>
              </a:lnSpc>
            </a:pPr>
            <a:r>
              <a:rPr b="0" lang="ru-RU" sz="2400" strike="noStrike" u="none" cap="small">
                <a:solidFill>
                  <a:schemeClr val="dk2"/>
                </a:solidFill>
                <a:effectLst/>
                <a:uFillTx/>
                <a:latin typeface="Arial Black"/>
              </a:rPr>
              <a:t>Смирнова Любовь Александровна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Мокап интерфейса (локация во время игры)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Рисунок 8" descr=""/>
          <p:cNvPicPr/>
          <p:nvPr/>
        </p:nvPicPr>
        <p:blipFill>
          <a:blip r:embed="rId1"/>
          <a:stretch/>
        </p:blipFill>
        <p:spPr>
          <a:xfrm>
            <a:off x="457200" y="1606320"/>
            <a:ext cx="3783600" cy="275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Рисунок 10" descr=""/>
          <p:cNvPicPr/>
          <p:nvPr/>
        </p:nvPicPr>
        <p:blipFill>
          <a:blip r:embed="rId2"/>
          <a:stretch/>
        </p:blipFill>
        <p:spPr>
          <a:xfrm>
            <a:off x="4716000" y="1593720"/>
            <a:ext cx="3783600" cy="276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Рисунок 14" descr=""/>
          <p:cNvPicPr/>
          <p:nvPr/>
        </p:nvPicPr>
        <p:blipFill>
          <a:blip r:embed="rId3"/>
          <a:srcRect l="0" t="0" r="53936" b="0"/>
          <a:stretch/>
        </p:blipFill>
        <p:spPr>
          <a:xfrm>
            <a:off x="1872360" y="4554000"/>
            <a:ext cx="5397480" cy="214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Прямоугольник 15"/>
          <p:cNvSpPr/>
          <p:nvPr/>
        </p:nvSpPr>
        <p:spPr>
          <a:xfrm>
            <a:off x="8028360" y="5415840"/>
            <a:ext cx="722160" cy="114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98" name="Рисунок 9" descr=""/>
          <p:cNvPicPr/>
          <p:nvPr/>
        </p:nvPicPr>
        <p:blipFill>
          <a:blip r:embed="rId4"/>
          <a:stretch/>
        </p:blipFill>
        <p:spPr>
          <a:xfrm>
            <a:off x="8156160" y="126972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Рисунок 11" descr=""/>
          <p:cNvPicPr/>
          <p:nvPr/>
        </p:nvPicPr>
        <p:blipFill>
          <a:blip r:embed="rId5"/>
          <a:stretch/>
        </p:blipFill>
        <p:spPr>
          <a:xfrm>
            <a:off x="1556280" y="423000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0" name="Рисунок 12" descr=""/>
          <p:cNvPicPr/>
          <p:nvPr/>
        </p:nvPicPr>
        <p:blipFill>
          <a:blip r:embed="rId6"/>
          <a:stretch/>
        </p:blipFill>
        <p:spPr>
          <a:xfrm>
            <a:off x="170280" y="1269720"/>
            <a:ext cx="645840" cy="6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Прямоугольник 5"/>
          <p:cNvSpPr/>
          <p:nvPr/>
        </p:nvSpPr>
        <p:spPr>
          <a:xfrm>
            <a:off x="8028360" y="5415840"/>
            <a:ext cx="722160" cy="114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Мокап интерфейса (локация во время игры)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Рисунок 3" descr=""/>
          <p:cNvPicPr/>
          <p:nvPr/>
        </p:nvPicPr>
        <p:blipFill>
          <a:blip r:embed="rId1"/>
          <a:stretch/>
        </p:blipFill>
        <p:spPr>
          <a:xfrm>
            <a:off x="0" y="1917000"/>
            <a:ext cx="4531320" cy="453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Рисунок 4" descr=""/>
          <p:cNvPicPr/>
          <p:nvPr/>
        </p:nvPicPr>
        <p:blipFill>
          <a:blip r:embed="rId2"/>
          <a:stretch/>
        </p:blipFill>
        <p:spPr>
          <a:xfrm>
            <a:off x="4626720" y="1917000"/>
            <a:ext cx="3958200" cy="395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Рисунок 8" descr=""/>
          <p:cNvPicPr/>
          <p:nvPr/>
        </p:nvPicPr>
        <p:blipFill>
          <a:blip r:embed="rId3"/>
          <a:stretch/>
        </p:blipFill>
        <p:spPr>
          <a:xfrm>
            <a:off x="133200" y="159264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Рисунок 9" descr=""/>
          <p:cNvPicPr/>
          <p:nvPr/>
        </p:nvPicPr>
        <p:blipFill>
          <a:blip r:embed="rId4"/>
          <a:stretch/>
        </p:blipFill>
        <p:spPr>
          <a:xfrm>
            <a:off x="8263440" y="5553360"/>
            <a:ext cx="645840" cy="6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06080" y="217440"/>
            <a:ext cx="7465320" cy="77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18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Верстка сайта (</a:t>
            </a:r>
            <a:r>
              <a:rPr b="0" lang="en-US" sz="18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https://www.figma.com/design/1WCPTFOMjVsgFrpQRTsUId/Website-of-architects---free-website--Community-?node-id=0-1&amp;t=X4ozX9wWVBBvSJtv-1</a:t>
            </a:r>
            <a:r>
              <a:rPr b="0" lang="ru-RU" sz="18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) </a:t>
            </a:r>
            <a:r>
              <a:rPr b="0" lang="ru-RU" sz="1800" spc="-99" strike="noStrike" u="none">
                <a:solidFill>
                  <a:schemeClr val="dk2"/>
                </a:solidFill>
                <a:effectLst/>
                <a:uFillTx/>
                <a:latin typeface="Arial Black"/>
                <a:hlinkClick r:id="rId1"/>
              </a:rPr>
              <a:t>https://d-m-00.github.io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Рисунок 4" descr=""/>
          <p:cNvPicPr/>
          <p:nvPr/>
        </p:nvPicPr>
        <p:blipFill>
          <a:blip r:embed="rId2"/>
          <a:srcRect l="0" t="0" r="0" b="49602"/>
          <a:stretch/>
        </p:blipFill>
        <p:spPr>
          <a:xfrm>
            <a:off x="755640" y="1417680"/>
            <a:ext cx="3680640" cy="522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Рисунок 6" descr=""/>
          <p:cNvPicPr/>
          <p:nvPr/>
        </p:nvPicPr>
        <p:blipFill>
          <a:blip r:embed="rId3"/>
          <a:srcRect l="0" t="49908" r="0" b="0"/>
          <a:stretch/>
        </p:blipFill>
        <p:spPr>
          <a:xfrm>
            <a:off x="4140000" y="1417680"/>
            <a:ext cx="3598200" cy="507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Прямоугольник 7"/>
          <p:cNvSpPr/>
          <p:nvPr/>
        </p:nvSpPr>
        <p:spPr>
          <a:xfrm>
            <a:off x="8028360" y="5415840"/>
            <a:ext cx="722160" cy="114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11" name="Рисунок 9" descr=""/>
          <p:cNvPicPr/>
          <p:nvPr/>
        </p:nvPicPr>
        <p:blipFill>
          <a:blip r:embed="rId4"/>
          <a:stretch/>
        </p:blipFill>
        <p:spPr>
          <a:xfrm>
            <a:off x="7596360" y="365400"/>
            <a:ext cx="959400" cy="95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Рисунок 10" descr=""/>
          <p:cNvPicPr/>
          <p:nvPr/>
        </p:nvPicPr>
        <p:blipFill>
          <a:blip r:embed="rId5"/>
          <a:stretch/>
        </p:blipFill>
        <p:spPr>
          <a:xfrm>
            <a:off x="7225560" y="996120"/>
            <a:ext cx="645840" cy="64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Рисунок 11" descr=""/>
          <p:cNvPicPr/>
          <p:nvPr/>
        </p:nvPicPr>
        <p:blipFill>
          <a:blip r:embed="rId6"/>
          <a:stretch/>
        </p:blipFill>
        <p:spPr>
          <a:xfrm>
            <a:off x="410400" y="5157360"/>
            <a:ext cx="645840" cy="64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Сценарий игры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457200" y="1352880"/>
            <a:ext cx="7617960" cy="48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Всего 7 дней</a:t>
            </a:r>
            <a:r>
              <a:rPr b="0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0 день 1.11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1 день 7.11 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 день 8.11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3 день 9.11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4 день 10.11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5 день 11.11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6 день 16.11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1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Предистория</a:t>
            </a:r>
            <a:r>
              <a:rPr b="0" lang="ru-RU" sz="22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ru-RU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Олег, 17-летний юноша, не сумел сдать сочинение из-за плохого учителя. Родители вызывают его на разговор, где он сталкивается с выбором: подготовиться к повторному написанию сочинения в течение месяца или уйти из школы. Олег выбирает уйти.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Рисунок 5" descr=""/>
          <p:cNvPicPr/>
          <p:nvPr/>
        </p:nvPicPr>
        <p:blipFill>
          <a:blip r:embed="rId1"/>
          <a:stretch/>
        </p:blipFill>
        <p:spPr>
          <a:xfrm>
            <a:off x="6315840" y="648720"/>
            <a:ext cx="1406520" cy="140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Рисунок 7" descr=""/>
          <p:cNvPicPr/>
          <p:nvPr/>
        </p:nvPicPr>
        <p:blipFill>
          <a:blip r:embed="rId2"/>
          <a:srcRect l="0" t="54201" r="0" b="4005"/>
          <a:stretch/>
        </p:blipFill>
        <p:spPr>
          <a:xfrm>
            <a:off x="3346200" y="929520"/>
            <a:ext cx="4175640" cy="349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Прямоугольник 5"/>
          <p:cNvSpPr/>
          <p:nvPr/>
        </p:nvSpPr>
        <p:spPr>
          <a:xfrm>
            <a:off x="1000080" y="500040"/>
            <a:ext cx="6069960" cy="670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0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Начало в спальне. Олег в клетке, используя компьютер, гуглит колледжи и решает поступить в МВЕУ, говоря: "Надеюсь, мне повезет".</a:t>
            </a:r>
            <a:br>
              <a:rPr sz="1400"/>
            </a:br>
            <a:br>
              <a:rPr sz="1400"/>
            </a:b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1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Олег встает в 9, идет на пары (история, русский), впервые погружается в учебу и общение с новыми друзьями.</a:t>
            </a:r>
            <a:br>
              <a:rPr sz="1400"/>
            </a:br>
            <a:br>
              <a:rPr sz="1400"/>
            </a:b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2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Просыпается в 11, собирается на конкурс пения, знакомится с талантливыми студентами и понимает, что ему интересна музыка.</a:t>
            </a:r>
            <a:br>
              <a:rPr sz="1400"/>
            </a:br>
            <a:br>
              <a:rPr sz="1400"/>
            </a:b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3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Встает в 12:30, на парах проходит английский и информатику, активно участвует в обсуждениях.</a:t>
            </a:r>
            <a:br>
              <a:rPr sz="1400"/>
            </a:br>
            <a:br>
              <a:rPr sz="1400"/>
            </a:b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4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Встает в 14, на математиках читает лекции, получает похвалу от преподавателя.</a:t>
            </a:r>
            <a:br>
              <a:rPr sz="1400"/>
            </a:br>
            <a:br>
              <a:rPr sz="1400"/>
            </a:b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5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Просыпается в 9, идет на физику и математику, раскрывает свои таланты.</a:t>
            </a:r>
            <a:br>
              <a:rPr sz="1400"/>
            </a:br>
            <a:br>
              <a:rPr sz="1400"/>
            </a:br>
            <a:r>
              <a:rPr b="1" lang="ru-RU" sz="14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6 день</a:t>
            </a:r>
            <a:br>
              <a:rPr sz="1400"/>
            </a:b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После занятий 4 года проходят незаметно. Олег вспоминает о своей учебе с теплотой и получает красный диплом, отмечая, как повезло ему в жизни. </a:t>
            </a:r>
            <a:br>
              <a:rPr sz="1800"/>
            </a:br>
            <a:br>
              <a:rPr sz="1400"/>
            </a:b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Рисунок 6" descr=""/>
          <p:cNvPicPr/>
          <p:nvPr/>
        </p:nvPicPr>
        <p:blipFill>
          <a:blip r:embed="rId1"/>
          <a:stretch/>
        </p:blipFill>
        <p:spPr>
          <a:xfrm>
            <a:off x="7452360" y="188640"/>
            <a:ext cx="1406520" cy="140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Рисунок 7" descr=""/>
          <p:cNvPicPr/>
          <p:nvPr/>
        </p:nvPicPr>
        <p:blipFill>
          <a:blip r:embed="rId2"/>
          <a:stretch/>
        </p:blipFill>
        <p:spPr>
          <a:xfrm>
            <a:off x="323640" y="5694120"/>
            <a:ext cx="750600" cy="75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Рисунок 8" descr=""/>
          <p:cNvPicPr/>
          <p:nvPr/>
        </p:nvPicPr>
        <p:blipFill>
          <a:blip r:embed="rId3"/>
          <a:stretch/>
        </p:blipFill>
        <p:spPr>
          <a:xfrm>
            <a:off x="7098840" y="1638360"/>
            <a:ext cx="918000" cy="91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07120" y="239400"/>
            <a:ext cx="7014960" cy="109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Постер и иконка игры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" descr="https://lh7-rt.googleusercontent.com/slidesz/AGV_vUccHjPjrsJbIqZG8UvBC1qtpR-SuqjJAY2XleT1HxgKQ_Wn97p7lG-8LyU20qAaPXfVs4Xuk6iMRPmckA8IrA4R3w08loMdSx6-aZEKpxQ4zcJY86FNfJ4_xDvHhRNxINTN7drS9A=s2048?key=r_Wks-Kl-xRsiBgX2CiGhTJl"/>
          <p:cNvPicPr/>
          <p:nvPr/>
        </p:nvPicPr>
        <p:blipFill>
          <a:blip r:embed="rId1"/>
          <a:stretch/>
        </p:blipFill>
        <p:spPr>
          <a:xfrm>
            <a:off x="4191480" y="1625040"/>
            <a:ext cx="3855600" cy="385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Рисунок 3" descr=""/>
          <p:cNvPicPr/>
          <p:nvPr/>
        </p:nvPicPr>
        <p:blipFill>
          <a:blip r:embed="rId2"/>
          <a:stretch/>
        </p:blipFill>
        <p:spPr>
          <a:xfrm>
            <a:off x="807120" y="1492920"/>
            <a:ext cx="2910600" cy="411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Рисунок 6" descr=""/>
          <p:cNvPicPr/>
          <p:nvPr/>
        </p:nvPicPr>
        <p:blipFill>
          <a:blip r:embed="rId3"/>
          <a:stretch/>
        </p:blipFill>
        <p:spPr>
          <a:xfrm>
            <a:off x="7524360" y="204120"/>
            <a:ext cx="1406520" cy="140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Рисунок 7" descr=""/>
          <p:cNvPicPr/>
          <p:nvPr/>
        </p:nvPicPr>
        <p:blipFill>
          <a:blip r:embed="rId4"/>
          <a:stretch/>
        </p:blipFill>
        <p:spPr>
          <a:xfrm>
            <a:off x="6981480" y="1340640"/>
            <a:ext cx="724680" cy="72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Рисунок 8" descr=""/>
          <p:cNvPicPr/>
          <p:nvPr/>
        </p:nvPicPr>
        <p:blipFill>
          <a:blip r:embed="rId5"/>
          <a:stretch/>
        </p:blipFill>
        <p:spPr>
          <a:xfrm>
            <a:off x="452520" y="5218560"/>
            <a:ext cx="789840" cy="78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79640" y="281520"/>
            <a:ext cx="8782920" cy="91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Выбор каналов продвижения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9" name="Таблица 3"/>
          <p:cNvGraphicFramePr/>
          <p:nvPr/>
        </p:nvGraphicFramePr>
        <p:xfrm>
          <a:off x="323640" y="1261080"/>
          <a:ext cx="7926840" cy="4366800"/>
        </p:xfrm>
        <a:graphic>
          <a:graphicData uri="http://schemas.openxmlformats.org/drawingml/2006/table">
            <a:tbl>
              <a:tblPr/>
              <a:tblGrid>
                <a:gridCol w="2615040"/>
                <a:gridCol w="2669760"/>
                <a:gridCol w="2642400"/>
              </a:tblGrid>
              <a:tr h="4654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 Black"/>
                        </a:rPr>
                        <a:t>Канал продвижения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 Black"/>
                        </a:rPr>
                        <a:t>Ориентировочная стоимость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ru-RU" sz="2000" strike="noStrike" u="none">
                          <a:solidFill>
                            <a:schemeClr val="lt1"/>
                          </a:solidFill>
                          <a:effectLst/>
                          <a:uFillTx/>
                          <a:latin typeface="Arial Black"/>
                        </a:rPr>
                        <a:t>Обоснование выбора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1615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Black"/>
                        </a:rPr>
                        <a:t>Социальные сети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Black"/>
                        </a:rPr>
                        <a:t>Instagram, TikTok, </a:t>
                      </a:r>
                      <a:r>
                        <a:rPr b="0" lang="ru-RU" sz="18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Black"/>
                        </a:rPr>
                        <a:t>ВКонтакте</a:t>
                      </a:r>
                      <a:endParaRPr b="0" lang="ru-RU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Реклама в Социальных сетях может быть разной в зависимости от формата рекламы, и целевой аудитории.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Использование социальных сетей поможет эффективно донести информацию до целевой аудитории.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br>
                        <a:rPr sz="1400"/>
                      </a:b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40000"/>
                      </a:schemeClr>
                    </a:solidFill>
                  </a:tcPr>
                </a:tc>
              </a:tr>
              <a:tr h="180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2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Black"/>
                        </a:rPr>
                        <a:t>Блогеры</a:t>
                      </a:r>
                      <a:endParaRPr b="0" lang="ru-RU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Стоимость от 5 000 до 50 000, в зависимости от охвата канала продвижения.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ru-RU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Реклама у блогеров может приносить результаты в кратчайшие сроки, используя мощности их платформ. Так же блогеры используют творческие методы представления, что делает рекламу более интересной и запоминающейся.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30" name="Рисунок 6" descr=""/>
          <p:cNvPicPr/>
          <p:nvPr/>
        </p:nvPicPr>
        <p:blipFill>
          <a:blip r:embed="rId1"/>
          <a:stretch/>
        </p:blipFill>
        <p:spPr>
          <a:xfrm>
            <a:off x="323640" y="5663520"/>
            <a:ext cx="970200" cy="97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Рисунок 7" descr=""/>
          <p:cNvPicPr/>
          <p:nvPr/>
        </p:nvPicPr>
        <p:blipFill>
          <a:blip r:embed="rId2"/>
          <a:stretch/>
        </p:blipFill>
        <p:spPr>
          <a:xfrm>
            <a:off x="7884360" y="1124640"/>
            <a:ext cx="724680" cy="72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114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000" spc="-99" strike="noStrike" u="none">
                <a:solidFill>
                  <a:schemeClr val="dk2"/>
                </a:solidFill>
                <a:effectLst/>
                <a:uFillTx/>
                <a:latin typeface="Arial Black"/>
              </a:rPr>
              <a:t>Рекламный слоган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467640" y="1556640"/>
            <a:ext cx="7702560" cy="22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22860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Обменяйся знаниями: учись до, во время и после! Взаимодействие с одногруппниками и преподавателями — ключ к успеху.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2860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Вместе мы достигнем большего!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" name="Рисунок 6" descr=""/>
          <p:cNvPicPr/>
          <p:nvPr/>
        </p:nvPicPr>
        <p:blipFill>
          <a:blip r:embed="rId1"/>
          <a:srcRect l="0" t="0" r="0" b="67082"/>
          <a:stretch/>
        </p:blipFill>
        <p:spPr>
          <a:xfrm>
            <a:off x="3780000" y="3249360"/>
            <a:ext cx="5206320" cy="342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" name="Рисунок 7" descr=""/>
          <p:cNvPicPr/>
          <p:nvPr/>
        </p:nvPicPr>
        <p:blipFill>
          <a:blip r:embed="rId2"/>
          <a:stretch/>
        </p:blipFill>
        <p:spPr>
          <a:xfrm>
            <a:off x="3508560" y="328068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Рисунок 8" descr=""/>
          <p:cNvPicPr/>
          <p:nvPr/>
        </p:nvPicPr>
        <p:blipFill>
          <a:blip r:embed="rId3"/>
          <a:stretch/>
        </p:blipFill>
        <p:spPr>
          <a:xfrm>
            <a:off x="7404480" y="491400"/>
            <a:ext cx="908640" cy="90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Рисунок 9" descr=""/>
          <p:cNvPicPr/>
          <p:nvPr/>
        </p:nvPicPr>
        <p:blipFill>
          <a:blip r:embed="rId4"/>
          <a:stretch/>
        </p:blipFill>
        <p:spPr>
          <a:xfrm>
            <a:off x="395640" y="5078160"/>
            <a:ext cx="1762560" cy="154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Рисунок 10" descr=""/>
          <p:cNvPicPr/>
          <p:nvPr/>
        </p:nvPicPr>
        <p:blipFill>
          <a:blip r:embed="rId5"/>
          <a:stretch/>
        </p:blipFill>
        <p:spPr>
          <a:xfrm>
            <a:off x="3364200" y="3911400"/>
            <a:ext cx="286200" cy="28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Прямоугольник 2"/>
          <p:cNvSpPr/>
          <p:nvPr/>
        </p:nvSpPr>
        <p:spPr>
          <a:xfrm>
            <a:off x="1475640" y="285840"/>
            <a:ext cx="5686560" cy="10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3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Реклама у блогеров: Ваш ключ к успеху</a:t>
            </a:r>
            <a:r>
              <a:rPr b="1" lang="ru-RU" sz="20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!</a:t>
            </a: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Прямоугольник 3"/>
          <p:cNvSpPr/>
          <p:nvPr/>
        </p:nvSpPr>
        <p:spPr>
          <a:xfrm>
            <a:off x="107640" y="1772640"/>
            <a:ext cx="4462200" cy="45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Почему стоит выбрать рекламу у блогеров?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b="0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r>
              <a:rPr b="1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Стоимость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О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 5 000 до 50 000 рублей в зависимости от охвата канала.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r>
              <a:rPr b="1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Быстрые результаты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Реклама у блогеров может приносить плоды в кратчайшие сроки благодаря мощным платформам.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000" strike="noStrike" u="sng">
                <a:solidFill>
                  <a:schemeClr val="dk1"/>
                </a:solidFill>
                <a:effectLst/>
                <a:uFillTx/>
                <a:latin typeface="Arial"/>
              </a:rPr>
              <a:t>3.Творческий подход</a:t>
            </a: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Блогеры используют уникальные и креативные методы представления, что делает рекламу более интересной и запоминающейся.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Прямоугольник 4"/>
          <p:cNvSpPr/>
          <p:nvPr/>
        </p:nvSpPr>
        <p:spPr>
          <a:xfrm>
            <a:off x="4572000" y="1428840"/>
            <a:ext cx="4569840" cy="26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Преимущества: 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i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•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Доступ к целевой аудитории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• Увеличение доверия к вашему бренду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• Эффективное продвижение товаров и услуг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Прямоугольник 5"/>
          <p:cNvSpPr/>
          <p:nvPr/>
        </p:nvSpPr>
        <p:spPr>
          <a:xfrm>
            <a:off x="4572000" y="4786200"/>
            <a:ext cx="4390200" cy="11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Свяжитесь с нами для получения подробной информации!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Номер телефона: +79821204865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mail: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kgafievaa@mail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ru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Рисунок 8" descr=""/>
          <p:cNvPicPr/>
          <p:nvPr/>
        </p:nvPicPr>
        <p:blipFill>
          <a:blip r:embed="rId1"/>
          <a:stretch/>
        </p:blipFill>
        <p:spPr>
          <a:xfrm>
            <a:off x="7524360" y="400320"/>
            <a:ext cx="1061280" cy="106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Рисунок 9" descr=""/>
          <p:cNvPicPr/>
          <p:nvPr/>
        </p:nvPicPr>
        <p:blipFill>
          <a:blip r:embed="rId2"/>
          <a:stretch/>
        </p:blipFill>
        <p:spPr>
          <a:xfrm>
            <a:off x="8299440" y="1339920"/>
            <a:ext cx="574560" cy="57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Рисунок 10" descr=""/>
          <p:cNvPicPr/>
          <p:nvPr/>
        </p:nvPicPr>
        <p:blipFill>
          <a:blip r:embed="rId3"/>
          <a:stretch/>
        </p:blipFill>
        <p:spPr>
          <a:xfrm>
            <a:off x="2484000" y="6084000"/>
            <a:ext cx="574560" cy="57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7617960" cy="60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600" spc="-99" strike="noStrike" u="none">
                <a:solidFill>
                  <a:schemeClr val="dk2"/>
                </a:solidFill>
                <a:effectLst/>
                <a:uFillTx/>
                <a:latin typeface="Arial"/>
              </a:rPr>
              <a:t>СПАСИБО ЗА ВНИМАНИЕ!</a:t>
            </a:r>
            <a:endParaRPr b="0" lang="ru-RU" sz="4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Рисунок 2" descr=""/>
          <p:cNvPicPr/>
          <p:nvPr/>
        </p:nvPicPr>
        <p:blipFill>
          <a:blip r:embed="rId1"/>
          <a:stretch/>
        </p:blipFill>
        <p:spPr>
          <a:xfrm>
            <a:off x="395640" y="5078160"/>
            <a:ext cx="1762560" cy="154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Рисунок 3" descr=""/>
          <p:cNvPicPr/>
          <p:nvPr/>
        </p:nvPicPr>
        <p:blipFill>
          <a:blip r:embed="rId2"/>
          <a:stretch/>
        </p:blipFill>
        <p:spPr>
          <a:xfrm>
            <a:off x="7404480" y="491400"/>
            <a:ext cx="908640" cy="90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Соседство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</a:schemeClr>
            </a:gs>
            <a:gs pos="100000">
              <a:schemeClr val="phClr">
                <a:shade val="70000"/>
              </a:schemeClr>
            </a:gs>
          </a:gsLst>
          <a:path path="circle">
            <a:fillToRect l="20000" t="50000" r="100000" b="50000"/>
          </a:path>
          <a:tileRect l="0" t="0" r="0" b="0"/>
        </a:gradFill>
        <a:blipFill rotWithShape="1">
          <a:blip r:embed="rId1"/>
          <a:srcRect l="0" t="0" r="0" b="0"/>
          <a:tile tx="0" ty="0" sx="32000" sy="32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576</TotalTime>
  <Application>LibreOffice/25.2.3.2$Linux_X86_64 LibreOffice_project/520$Build-2</Application>
  <AppVersion>15.0000</AppVersion>
  <Words>1525</Words>
  <Paragraphs>435</Paragraphs>
  <Company>Grizli777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2025-06-02T14:10:14Z</dcterms:created>
  <dc:creator>Семья</dc:creator>
  <dc:description/>
  <dc:language>ru-RU</dc:language>
  <cp:lastModifiedBy/>
  <dcterms:modified xsi:type="dcterms:W3CDTF">2025-06-06T09:48:24Z</dcterms:modified>
  <cp:revision>63</cp:revision>
  <dc:subject/>
  <dc:title>игра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Экран (4:3)</vt:lpwstr>
  </property>
  <property fmtid="{D5CDD505-2E9C-101B-9397-08002B2CF9AE}" pid="4" name="Slides">
    <vt:i4>29</vt:i4>
  </property>
</Properties>
</file>